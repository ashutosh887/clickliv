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040880" y="1682495"/>
            <a:ext cx="4663440" cy="3621025"/>
          </a:xfrm>
          <a:custGeom>
            <a:avLst/>
            <a:gdLst/>
            <a:ahLst/>
            <a:cxnLst/>
            <a:rect l="l" t="t" r="r" b="b"/>
            <a:pathLst>
              <a:path w="4663440" h="3621025">
                <a:moveTo>
                  <a:pt x="0" y="2494484"/>
                </a:moveTo>
                <a:lnTo>
                  <a:pt x="582930" y="1810513"/>
                </a:lnTo>
                <a:lnTo>
                  <a:pt x="1165860" y="1287476"/>
                </a:lnTo>
                <a:lnTo>
                  <a:pt x="1748790" y="0"/>
                </a:lnTo>
                <a:lnTo>
                  <a:pt x="2331720" y="724205"/>
                </a:lnTo>
                <a:lnTo>
                  <a:pt x="2914650" y="1287476"/>
                </a:lnTo>
                <a:lnTo>
                  <a:pt x="3497580" y="1810513"/>
                </a:lnTo>
                <a:lnTo>
                  <a:pt x="4080510" y="1005841"/>
                </a:lnTo>
                <a:lnTo>
                  <a:pt x="4663440" y="1528877"/>
                </a:lnTo>
                <a:lnTo>
                  <a:pt x="4663440" y="3621025"/>
                </a:lnTo>
                <a:lnTo>
                  <a:pt x="0" y="3621025"/>
                </a:lnTo>
                <a:close/>
              </a:path>
            </a:pathLst>
          </a:cu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040880" y="2929737"/>
            <a:ext cx="582930" cy="603504"/>
          </a:xfrm>
          <a:prstGeom prst="line">
            <a:avLst/>
          </a:prstGeom>
          <a:ln w="19050">
            <a:solidFill>
              <a:srgbClr val="B9B9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7623810" y="2487168"/>
            <a:ext cx="582930" cy="442569"/>
          </a:xfrm>
          <a:prstGeom prst="line">
            <a:avLst/>
          </a:prstGeom>
          <a:ln w="19050">
            <a:solidFill>
              <a:srgbClr val="B9B9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206740" y="1602028"/>
            <a:ext cx="582930" cy="885140"/>
          </a:xfrm>
          <a:prstGeom prst="line">
            <a:avLst/>
          </a:prstGeom>
          <a:ln w="19050">
            <a:solidFill>
              <a:srgbClr val="B9B9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89670" y="1602028"/>
            <a:ext cx="582930" cy="402336"/>
          </a:xfrm>
          <a:prstGeom prst="line">
            <a:avLst/>
          </a:prstGeom>
          <a:ln w="19050">
            <a:solidFill>
              <a:srgbClr val="B9B9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600" y="2004364"/>
            <a:ext cx="582930" cy="442570"/>
          </a:xfrm>
          <a:prstGeom prst="line">
            <a:avLst/>
          </a:prstGeom>
          <a:ln w="19050">
            <a:solidFill>
              <a:srgbClr val="B9B9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955530" y="2446934"/>
            <a:ext cx="582930" cy="442570"/>
          </a:xfrm>
          <a:prstGeom prst="line">
            <a:avLst/>
          </a:prstGeom>
          <a:ln w="19050">
            <a:solidFill>
              <a:srgbClr val="B9B9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538460" y="2165299"/>
            <a:ext cx="582930" cy="724205"/>
          </a:xfrm>
          <a:prstGeom prst="line">
            <a:avLst/>
          </a:prstGeom>
          <a:ln w="19050">
            <a:solidFill>
              <a:srgbClr val="B9B9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121390" y="2165299"/>
            <a:ext cx="582930" cy="563270"/>
          </a:xfrm>
          <a:prstGeom prst="line">
            <a:avLst/>
          </a:prstGeom>
          <a:ln w="19050">
            <a:solidFill>
              <a:srgbClr val="B9B9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40880" y="3493008"/>
            <a:ext cx="582930" cy="683971"/>
          </a:xfrm>
          <a:prstGeom prst="line">
            <a:avLst/>
          </a:prstGeom>
          <a:ln w="25400">
            <a:solidFill>
              <a:srgbClr val="16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623810" y="2969971"/>
            <a:ext cx="582930" cy="523037"/>
          </a:xfrm>
          <a:prstGeom prst="line">
            <a:avLst/>
          </a:prstGeom>
          <a:ln w="25400">
            <a:solidFill>
              <a:srgbClr val="16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206740" y="1682495"/>
            <a:ext cx="582930" cy="1287476"/>
          </a:xfrm>
          <a:prstGeom prst="line">
            <a:avLst/>
          </a:prstGeom>
          <a:ln w="25400">
            <a:solidFill>
              <a:srgbClr val="16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89670" y="1682495"/>
            <a:ext cx="582930" cy="724205"/>
          </a:xfrm>
          <a:prstGeom prst="line">
            <a:avLst/>
          </a:prstGeom>
          <a:ln w="25400">
            <a:solidFill>
              <a:srgbClr val="16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72600" y="2406700"/>
            <a:ext cx="582930" cy="563271"/>
          </a:xfrm>
          <a:prstGeom prst="line">
            <a:avLst/>
          </a:prstGeom>
          <a:ln w="25400">
            <a:solidFill>
              <a:srgbClr val="16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55530" y="2969971"/>
            <a:ext cx="582930" cy="523037"/>
          </a:xfrm>
          <a:prstGeom prst="line">
            <a:avLst/>
          </a:prstGeom>
          <a:ln w="25400">
            <a:solidFill>
              <a:srgbClr val="16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538460" y="2688336"/>
            <a:ext cx="582930" cy="804672"/>
          </a:xfrm>
          <a:prstGeom prst="line">
            <a:avLst/>
          </a:prstGeom>
          <a:ln w="25400">
            <a:solidFill>
              <a:srgbClr val="16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21390" y="2688336"/>
            <a:ext cx="582930" cy="523036"/>
          </a:xfrm>
          <a:prstGeom prst="line">
            <a:avLst/>
          </a:prstGeom>
          <a:ln w="25400">
            <a:solidFill>
              <a:srgbClr val="1616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040880" y="5303520"/>
            <a:ext cx="4663440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1783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9388" y="1947489"/>
            <a:ext cx="62362" cy="23810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9939" y="1868119"/>
            <a:ext cx="62362" cy="39684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0490" y="1981504"/>
            <a:ext cx="62362" cy="17007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91041" y="1907804"/>
            <a:ext cx="62362" cy="31747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" y="1"/>
            <a:ext cx="8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 spc="-30">
                <a:solidFill>
                  <a:srgbClr val="161616"/>
                </a:solidFill>
                <a:latin typeface="Inter"/>
              </a:rPr>
              <a:t>ClickLiv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3"/>
            <a:ext cx="8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595959"/>
                </a:solidFill>
                <a:latin typeface="Inter"/>
              </a:rPr>
              <a:t>Foreground-only concurrency for SonyLIV, at streaming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3"/>
            <a:ext cx="8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  <a:latin typeface="Inter"/>
              </a:rPr>
              <a:t>Team DevSapiens  ·  SonyLIV Track  ·  ClickHouse Click-a-thon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" y="3977639"/>
            <a:ext cx="3429000" cy="502920"/>
          </a:xfrm>
          <a:prstGeom prst="roundRect">
            <a:avLst>
              <a:gd name="adj" fmla="val 50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300" b="1">
                <a:solidFill>
                  <a:srgbClr val="161616"/>
                </a:solidFill>
                <a:latin typeface="Inter"/>
              </a:rPr>
              <a:t>LIVE NOW — clickliv.vercel.app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" y="6126480"/>
            <a:ext cx="8229600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0" y="6"/>
            <a:ext cx="8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Inter"/>
              </a:rPr>
              <a:t>Ashutosh Jha  ·  Mansi Sondhi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441" y="471830"/>
            <a:ext cx="40233" cy="15361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764" y="420624"/>
            <a:ext cx="40233" cy="25603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493776"/>
            <a:ext cx="40233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411" y="446227"/>
            <a:ext cx="40233" cy="20482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" y="0"/>
            <a:ext cx="1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10">
                <a:solidFill>
                  <a:srgbClr val="595959"/>
                </a:solidFill>
                <a:latin typeface="Inter"/>
              </a:rPr>
              <a:t>AN OPEN APP IS NOT A VIEWER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234440"/>
            <a:ext cx="9052560" cy="2697480"/>
          </a:xfrm>
          <a:prstGeom prst="roundRect">
            <a:avLst/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0" b="1">
                <a:solidFill>
                  <a:srgbClr val="161616"/>
                </a:solidFill>
                <a:latin typeface="Inter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"/>
            <a:ext cx="11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61616"/>
                </a:solidFill>
                <a:latin typeface="Inter"/>
              </a:rPr>
              <a:t>That is how far average concurrency is overstated when every open session counts as a viewer.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"/>
            <a:ext cx="11" cy="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95959"/>
                </a:solidFill>
                <a:latin typeface="Inter"/>
              </a:rPr>
              <a:t>Peak moves only 9% — same minute. Advertisers are sold against concurrent audience and capacity is
provisioned against the peak. Naive counting doesn't misreport a little. It always overstates.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441" y="416966"/>
            <a:ext cx="40233" cy="15361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764" y="365760"/>
            <a:ext cx="40233" cy="25603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438912"/>
            <a:ext cx="40233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411" y="391363"/>
            <a:ext cx="40233" cy="20482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10">
                <a:solidFill>
                  <a:srgbClr val="595959"/>
                </a:solidFill>
                <a:latin typeface="Inter"/>
              </a:rPr>
              <a:t>SEE IT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 spc="-20">
                <a:solidFill>
                  <a:srgbClr val="161616"/>
                </a:solidFill>
                <a:latin typeface="Inter"/>
              </a:rPr>
              <a:t>clickliv.vercel.app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Inter"/>
              </a:rPr>
              <a:t>ClickLiv  ·  DevSapiens  ·  ClickHouse Click-a-thon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836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595959"/>
                </a:solidFill>
                <a:latin typeface="Inter"/>
              </a:rPr>
              <a:t>―  </a:t>
            </a:r>
            <a:r>
              <a:rPr sz="1450" b="0">
                <a:solidFill>
                  <a:srgbClr val="161616"/>
                </a:solidFill>
                <a:latin typeface="Inter"/>
              </a:rPr>
              <a:t>One day, 7,000,000 real events, plotted minute by minute.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595959"/>
                </a:solidFill>
                <a:latin typeface="Inter"/>
              </a:rPr>
              <a:t>     Foreground-only concurrency for 2026-07-31, no mock data.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595959"/>
                </a:solidFill>
                <a:latin typeface="Inter"/>
              </a:rPr>
              <a:t>―  </a:t>
            </a:r>
            <a:r>
              <a:rPr sz="1450" b="0">
                <a:solidFill>
                  <a:srgbClr val="161616"/>
                </a:solidFill>
                <a:latin typeface="Inter"/>
              </a:rPr>
              <a:t>The naive curve drawn behind it, same axis.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595959"/>
                </a:solidFill>
                <a:latin typeface="Inter"/>
              </a:rPr>
              <a:t>     The 9% / 90% gap is visible on screen, not just claimed in a table.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595959"/>
                </a:solidFill>
                <a:latin typeface="Inter"/>
              </a:rPr>
              <a:t>―  </a:t>
            </a:r>
            <a:r>
              <a:rPr sz="1450" b="0">
                <a:solidFill>
                  <a:srgbClr val="161616"/>
                </a:solidFill>
                <a:latin typeface="Inter"/>
              </a:rPr>
              <a:t>Every dataset dimension is a live filter.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595959"/>
                </a:solidFill>
                <a:latin typeface="Inter"/>
              </a:rPr>
              <a:t>     Platform, video type, language, app/player version, title, video_resolution — repaints instantly.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595959"/>
                </a:solidFill>
                <a:latin typeface="Inter"/>
              </a:rPr>
              <a:t>―  </a:t>
            </a:r>
            <a:r>
              <a:rPr sz="1450" b="0">
                <a:solidFill>
                  <a:srgbClr val="161616"/>
                </a:solidFill>
                <a:latin typeface="Inter"/>
              </a:rPr>
              <a:t>Purpose-built, because no BI tool draws this comparison.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595959"/>
                </a:solidFill>
                <a:latin typeface="Inter"/>
              </a:rPr>
              <a:t>     Filters bind as parameters to one ClickHouse view — never concatenated SQL.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783080"/>
            <a:ext cx="5166360" cy="4114800"/>
          </a:xfrm>
          <a:prstGeom prst="rect">
            <a:avLst/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011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00">
                <a:solidFill>
                  <a:srgbClr val="595959"/>
                </a:solidFill>
                <a:latin typeface="Inter"/>
              </a:rPr>
              <a:t>WHAT'S UNDERNEATH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423160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>
                <a:solidFill>
                  <a:srgbClr val="595959"/>
                </a:solidFill>
                <a:latin typeface="Inter"/>
              </a:rPr>
              <a:t>―  </a:t>
            </a:r>
            <a:r>
              <a:rPr sz="1350" b="1">
                <a:solidFill>
                  <a:srgbClr val="161616"/>
                </a:solidFill>
                <a:latin typeface="Inter"/>
              </a:rPr>
              <a:t>ClickHouse Cloud, ap-south-1, 2 replicas.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>
                <a:solidFill>
                  <a:srgbClr val="595959"/>
                </a:solidFill>
                <a:latin typeface="Inter"/>
              </a:rPr>
              <a:t>―  </a:t>
            </a:r>
            <a:r>
              <a:rPr sz="1350" b="1">
                <a:solidFill>
                  <a:srgbClr val="161616"/>
                </a:solidFill>
                <a:latin typeface="Inter"/>
              </a:rPr>
              <a:t>A serverless proxy on Vercel, one parameterized view.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>
                <a:solidFill>
                  <a:srgbClr val="595959"/>
                </a:solidFill>
                <a:latin typeface="Inter"/>
              </a:rPr>
              <a:t>―  </a:t>
            </a:r>
            <a:r>
              <a:rPr sz="1350" b="1">
                <a:solidFill>
                  <a:srgbClr val="161616"/>
                </a:solidFill>
                <a:latin typeface="Inter"/>
              </a:rPr>
              <a:t>The restricted, budgeted marts_agent role.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595959"/>
                </a:solidFill>
                <a:latin typeface="Inter"/>
              </a:rPr>
              <a:t>―  </a:t>
            </a:r>
            <a:r>
              <a:rPr sz="1350" b="0">
                <a:solidFill>
                  <a:srgbClr val="161616"/>
                </a:solidFill>
                <a:latin typeface="Inter"/>
              </a:rPr>
              <a:t>No admin credential exists in that environment —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150">
                <a:solidFill>
                  <a:srgbClr val="595959"/>
                </a:solidFill>
                <a:latin typeface="Inter"/>
              </a:rPr>
              <a:t>     the API response says so, in a served_by field.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441" y="416966"/>
            <a:ext cx="40233" cy="15361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764" y="365760"/>
            <a:ext cx="40233" cy="25603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438912"/>
            <a:ext cx="40233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411" y="391363"/>
            <a:ext cx="40233" cy="20482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10">
                <a:solidFill>
                  <a:srgbClr val="595959"/>
                </a:solidFill>
                <a:latin typeface="Inter"/>
              </a:rPr>
              <a:t>THE PROOF — GRADED DAY, 2026-07-31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 spc="-20">
                <a:solidFill>
                  <a:srgbClr val="161616"/>
                </a:solidFill>
                <a:latin typeface="Inter"/>
              </a:rPr>
              <a:t>One dense day, 7,000,000 real 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Inter"/>
              </a:rPr>
              <a:t>ClickLiv  ·  DevSapiens  ·  ClickHouse Click-a-thon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836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Inter"/>
              </a:rPr>
              <a:t>4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737360"/>
          <a:ext cx="11201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715000"/>
              </a:tblGrid>
              <a:tr h="574765">
                <a:tc>
                  <a:txBody>
                    <a:bodyPr/>
                    <a:lstStyle/>
                    <a:p>
                      <a:r>
                        <a:rPr b="1" sz="1200" spc="60">
                          <a:solidFill>
                            <a:srgbClr val="595959"/>
                          </a:solidFill>
                          <a:latin typeface="Inter"/>
                        </a:rPr>
                        <a:t>MEASURE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spc="60">
                          <a:solidFill>
                            <a:srgbClr val="595959"/>
                          </a:solidFill>
                          <a:latin typeface="Inter"/>
                        </a:rPr>
                        <a:t>VALUE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Inter"/>
                        </a:rPr>
                        <a:t>Peak, foreground-only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Inter"/>
                        </a:rPr>
                        <a:t>22,175  at 11:16 UTC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Inter"/>
                        </a:rPr>
                        <a:t>Peak, naive (every open session)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Inter"/>
                        </a:rPr>
                        <a:t>24,196  —  same minute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Inter"/>
                        </a:rPr>
                        <a:t>Overcount — peak / average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Inter"/>
                        </a:rPr>
                        <a:t>9.1%  /  90.1%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Inter"/>
                        </a:rPr>
                        <a:t>Serving latency  p50 / p95 / p99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Inter"/>
                        </a:rPr>
                        <a:t>99 / 121 / 124 ms — 100 ms target, missed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Inter"/>
                        </a:rPr>
                        <a:t>Correctness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Inter"/>
                        </a:rPr>
                        <a:t>12 / 12  across five independent implementations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Inter"/>
                        </a:rPr>
                        <a:t>Sessions still open at file boundary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Inter"/>
                        </a:rPr>
                        <a:t>37,649 of 108,486  —  34.7%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441" y="416966"/>
            <a:ext cx="40233" cy="15361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764" y="365760"/>
            <a:ext cx="40233" cy="25603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438912"/>
            <a:ext cx="40233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411" y="391363"/>
            <a:ext cx="40233" cy="20482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10">
                <a:solidFill>
                  <a:srgbClr val="595959"/>
                </a:solidFill>
                <a:latin typeface="Inter"/>
              </a:rPr>
              <a:t>MEASURED, NOT ASSUMED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 spc="-20">
                <a:solidFill>
                  <a:srgbClr val="161616"/>
                </a:solidFill>
                <a:latin typeface="Inter"/>
              </a:rPr>
              <a:t>Why the obvious answer is wrong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Inter"/>
              </a:rPr>
              <a:t>ClickLiv  ·  DevSapiens  ·  ClickHouse Click-a-thon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836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Inter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874519"/>
            <a:ext cx="111556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595959"/>
                </a:solidFill>
                <a:latin typeface="Inter"/>
              </a:rPr>
              <a:t>―  </a:t>
            </a:r>
            <a:r>
              <a:rPr sz="1600" b="0">
                <a:solidFill>
                  <a:srgbClr val="161616"/>
                </a:solidFill>
                <a:latin typeface="Inter"/>
              </a:rPr>
              <a:t>The heartbeat is 40 seconds, not the 60 the data dictionary states.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400">
                <a:solidFill>
                  <a:srgbClr val="595959"/>
                </a:solidFill>
                <a:latin typeface="Inter"/>
              </a:rPr>
              <a:t>     p90 of exactly 40.0s across four telemetry streams. Every threshold derives from that, not the doc.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595959"/>
                </a:solidFill>
                <a:latin typeface="Inter"/>
              </a:rPr>
              <a:t>―  </a:t>
            </a:r>
            <a:r>
              <a:rPr sz="1600" b="0">
                <a:solidFill>
                  <a:srgbClr val="161616"/>
                </a:solidFill>
                <a:latin typeface="Inter"/>
              </a:rPr>
              <a:t>There is no pause event type.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400">
                <a:solidFill>
                  <a:srgbClr val="595959"/>
                </a:solidFill>
                <a:latin typeface="Inter"/>
              </a:rPr>
              <a:t>     Pause, resume, speed-pause and AdPause all live inside the 41-value VideoHeartbeat bucket.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595959"/>
                </a:solidFill>
                <a:latin typeface="Inter"/>
              </a:rPr>
              <a:t>―  </a:t>
            </a:r>
            <a:r>
              <a:rPr sz="1600" b="0">
                <a:solidFill>
                  <a:srgbClr val="161616"/>
                </a:solidFill>
                <a:latin typeface="Inter"/>
              </a:rPr>
              <a:t>Background and foreground markers do not pair.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400">
                <a:solidFill>
                  <a:srgbClr val="595959"/>
                </a:solidFill>
                <a:latin typeface="Inter"/>
              </a:rPr>
              <a:t>     14,700 AppBackgrounded vs 14,321 AppForegrounded — the model never waits for a match to close a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441" y="416966"/>
            <a:ext cx="40233" cy="15361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764" y="365760"/>
            <a:ext cx="40233" cy="25603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438912"/>
            <a:ext cx="40233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411" y="391363"/>
            <a:ext cx="40233" cy="20482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10">
                <a:solidFill>
                  <a:srgbClr val="595959"/>
                </a:solidFill>
                <a:latin typeface="Inter"/>
              </a:rPr>
              <a:t>THE RULE THE SCHEMA RESTS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 spc="-20">
                <a:solidFill>
                  <a:srgbClr val="161616"/>
                </a:solidFill>
                <a:latin typeface="Inter"/>
              </a:rPr>
              <a:t>Filter, sum, then max — never max 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Inter"/>
              </a:rPr>
              <a:t>ClickLiv  ·  DevSapiens  ·  ClickHouse Click-a-thon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836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Inter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874519"/>
            <a:ext cx="111556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595959"/>
                </a:solidFill>
                <a:latin typeface="Inter"/>
              </a:rPr>
              <a:t>―  </a:t>
            </a:r>
            <a:r>
              <a:rPr sz="1700" b="0">
                <a:solidFill>
                  <a:srgbClr val="161616"/>
                </a:solidFill>
                <a:latin typeface="Inter"/>
              </a:rPr>
              <a:t>Per-minute concurrency is additive across dimensions.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1500">
                <a:solidFill>
                  <a:srgbClr val="595959"/>
                </a:solidFill>
                <a:latin typeface="Inter"/>
              </a:rPr>
              <a:t>     One deduped row per (session, minute) — one rollup answers every filter combination, at any grain.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595959"/>
                </a:solidFill>
                <a:latin typeface="Inter"/>
              </a:rPr>
              <a:t>―  </a:t>
            </a:r>
            <a:r>
              <a:rPr sz="1700" b="0">
                <a:solidFill>
                  <a:srgbClr val="161616"/>
                </a:solidFill>
                <a:latin typeface="Inter"/>
              </a:rPr>
              <a:t>Peak is not composable across time.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1500">
                <a:solidFill>
                  <a:srgbClr val="595959"/>
                </a:solidFill>
                <a:latin typeface="Inter"/>
              </a:rPr>
              <a:t>     max() doesn't distribute over sums, so per-slice peaks can't be added. Get the order wrong and the answer is silently wrong, not an error.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441" y="416966"/>
            <a:ext cx="40233" cy="15361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764" y="365760"/>
            <a:ext cx="40233" cy="25603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438912"/>
            <a:ext cx="40233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411" y="391363"/>
            <a:ext cx="40233" cy="20482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10">
                <a:solidFill>
                  <a:srgbClr val="595959"/>
                </a:solidFill>
                <a:latin typeface="Inter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 spc="-20">
                <a:solidFill>
                  <a:srgbClr val="161616"/>
                </a:solidFill>
                <a:latin typeface="Inter"/>
              </a:rPr>
              <a:t>Everything the problem is made of runs in ClickHouse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Inter"/>
              </a:rPr>
              <a:t>ClickLiv  ·  DevSapiens  ·  ClickHouse Click-a-thon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836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Inter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28800"/>
            <a:ext cx="1783080" cy="594360"/>
          </a:xfrm>
          <a:prstGeom prst="roundRect">
            <a:avLst>
              <a:gd name="adj" fmla="val 9000"/>
            </a:avLst>
          </a:prstGeom>
          <a:solidFill>
            <a:srgbClr val="F7F7F7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>
                <a:solidFill>
                  <a:srgbClr val="161616"/>
                </a:solidFill>
                <a:latin typeface="Inter"/>
              </a:rPr>
              <a:t>Raw CSVs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2125980.0"/>
            <a:ext cx="320040" cy="0.0"/>
          </a:xfrm>
          <a:prstGeom prst="line">
            <a:avLst/>
          </a:prstGeom>
          <a:ln w="17780">
            <a:solidFill>
              <a:srgbClr val="B9B9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606040" y="1828800"/>
            <a:ext cx="1783080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61616"/>
                </a:solidFill>
                <a:latin typeface="Inter"/>
              </a:rPr>
              <a:t>raw_events
MergeTree + Dictionary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97580.0" y="2423160"/>
            <a:ext cx="0.0" cy="502920"/>
          </a:xfrm>
          <a:prstGeom prst="line">
            <a:avLst/>
          </a:prstGeom>
          <a:ln w="17780">
            <a:solidFill>
              <a:srgbClr val="B9B9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606040" y="2926080"/>
            <a:ext cx="1783080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61616"/>
                </a:solidFill>
                <a:latin typeface="Inter"/>
              </a:rPr>
              <a:t>active_intervals
playing+fg+fresh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89120" y="3223260.0"/>
            <a:ext cx="274320" cy="0.0"/>
          </a:xfrm>
          <a:prstGeom prst="line">
            <a:avLst/>
          </a:prstGeom>
          <a:ln w="17780">
            <a:solidFill>
              <a:srgbClr val="B9B9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63440" y="2926080"/>
            <a:ext cx="2103120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61616"/>
                </a:solidFill>
                <a:latin typeface="Inter"/>
              </a:rPr>
              <a:t>minute_occupancy
SummingMergeTree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97580.0" y="3520440"/>
            <a:ext cx="0.0" cy="594360"/>
          </a:xfrm>
          <a:prstGeom prst="line">
            <a:avLst/>
          </a:prstGeom>
          <a:ln w="17780">
            <a:solidFill>
              <a:srgbClr val="B9B9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606040" y="4114800"/>
            <a:ext cx="1783080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61616"/>
                </a:solidFill>
                <a:latin typeface="Inter"/>
              </a:rPr>
              <a:t>minute_deltas
signed ±1 path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15000" y="3520440"/>
            <a:ext cx="0" cy="521208"/>
          </a:xfrm>
          <a:prstGeom prst="line">
            <a:avLst/>
          </a:prstGeom>
          <a:ln w="17780">
            <a:solidFill>
              <a:srgbClr val="B9B9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63440" y="4114800"/>
            <a:ext cx="2103120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61616"/>
                </a:solidFill>
                <a:latin typeface="Inter"/>
              </a:rPr>
              <a:t>maxIntersections
arithmetic oracle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66560" y="3223260.0"/>
            <a:ext cx="320040" cy="0.0"/>
          </a:xfrm>
          <a:prstGeom prst="line">
            <a:avLst/>
          </a:prstGeom>
          <a:ln w="17780">
            <a:solidFill>
              <a:srgbClr val="B9B9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86600" y="2926080"/>
            <a:ext cx="1965960" cy="594360"/>
          </a:xfrm>
          <a:prstGeom prst="roundRect">
            <a:avLst>
              <a:gd name="adj" fmla="val 9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161616"/>
                </a:solidFill>
                <a:latin typeface="Inter"/>
              </a:rPr>
              <a:t>marts.*
SECURITY DEFINER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40" y="4837176"/>
            <a:ext cx="1783080" cy="438912"/>
          </a:xfrm>
          <a:prstGeom prst="roundRect">
            <a:avLst>
              <a:gd name="adj" fmla="val 9000"/>
            </a:avLst>
          </a:prstGeom>
          <a:solidFill>
            <a:srgbClr val="F7F7F7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1">
                <a:solidFill>
                  <a:srgbClr val="595959"/>
                </a:solidFill>
                <a:latin typeface="Inter"/>
              </a:rPr>
              <a:t>reference.py
no ClickHouse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37176"/>
            <a:ext cx="2103120" cy="438912"/>
          </a:xfrm>
          <a:prstGeom prst="roundRect">
            <a:avLst>
              <a:gd name="adj" fmla="val 9000"/>
            </a:avLst>
          </a:prstGeom>
          <a:solidFill>
            <a:srgbClr val="F7F7F7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1">
                <a:solidFill>
                  <a:srgbClr val="595959"/>
                </a:solidFill>
                <a:latin typeface="Inter"/>
              </a:rPr>
              <a:t>chDB
in-process, same SQL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1828800"/>
            <a:ext cx="2240280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61616"/>
                </a:solidFill>
                <a:latin typeface="Inter"/>
              </a:rPr>
              <a:t>Dashboard · Vercel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9052560" y="2071116"/>
            <a:ext cx="411480" cy="1152144.0"/>
          </a:xfrm>
          <a:prstGeom prst="line">
            <a:avLst/>
          </a:prstGeom>
          <a:ln w="17780">
            <a:solidFill>
              <a:srgbClr val="B9B9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464040" y="2487168"/>
            <a:ext cx="2240280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61616"/>
                </a:solidFill>
                <a:latin typeface="Inter"/>
              </a:rPr>
              <a:t>MCP + LibreChat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9052560" y="2729484"/>
            <a:ext cx="411480" cy="493776.0"/>
          </a:xfrm>
          <a:prstGeom prst="line">
            <a:avLst/>
          </a:prstGeom>
          <a:ln w="17780">
            <a:solidFill>
              <a:srgbClr val="B9B9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64040" y="3145536"/>
            <a:ext cx="2240280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61616"/>
                </a:solidFill>
                <a:latin typeface="Inter"/>
              </a:rPr>
              <a:t>Langfuse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52560" y="3223260.0"/>
            <a:ext cx="411480" cy="164592.0"/>
          </a:xfrm>
          <a:prstGeom prst="line">
            <a:avLst/>
          </a:prstGeom>
          <a:ln w="17780">
            <a:solidFill>
              <a:srgbClr val="B9B9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464040" y="3803904"/>
            <a:ext cx="2240280" cy="484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61616"/>
                </a:solidFill>
                <a:latin typeface="Inter"/>
              </a:rPr>
              <a:t>ClickStack (HyperDX)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52560" y="3223260.0"/>
            <a:ext cx="411480" cy="822960.0"/>
          </a:xfrm>
          <a:prstGeom prst="line">
            <a:avLst/>
          </a:prstGeom>
          <a:ln w="17780">
            <a:solidFill>
              <a:srgbClr val="B9B9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95959"/>
                </a:solidFill>
                <a:latin typeface="Inter"/>
              </a:rPr>
              <a:t>Only the Python reference and chDB run outside the server — and chDB is still ClickHouse.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441" y="416966"/>
            <a:ext cx="40233" cy="15361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764" y="365760"/>
            <a:ext cx="40233" cy="25603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438912"/>
            <a:ext cx="40233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411" y="391363"/>
            <a:ext cx="40233" cy="20482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10">
                <a:solidFill>
                  <a:srgbClr val="595959"/>
                </a:solidFill>
                <a:latin typeface="Inter"/>
              </a:rPr>
              <a:t>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 spc="-20">
                <a:solidFill>
                  <a:srgbClr val="161616"/>
                </a:solidFill>
                <a:latin typeface="Inter"/>
              </a:rPr>
              <a:t>Five paths that share no code, then diffed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Inter"/>
              </a:rPr>
              <a:t>ClickLiv  ·  DevSapiens  ·  ClickHouse Click-a-thon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836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Inter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595959"/>
                </a:solidFill>
                <a:latin typeface="Inter"/>
              </a:rPr>
              <a:t>―  </a:t>
            </a:r>
            <a:r>
              <a:rPr sz="1500" b="1">
                <a:solidFill>
                  <a:srgbClr val="161616"/>
                </a:solidFill>
                <a:latin typeface="Inter"/>
              </a:rPr>
              <a:t>minute_occupancy — the primary serving path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595959"/>
                </a:solidFill>
                <a:latin typeface="Inter"/>
              </a:rPr>
              <a:t>―  </a:t>
            </a:r>
            <a:r>
              <a:rPr sz="1500" b="1">
                <a:solidFill>
                  <a:srgbClr val="161616"/>
                </a:solidFill>
                <a:latin typeface="Inter"/>
              </a:rPr>
              <a:t>minute_deltas — signed ±1 runs, a windowed cumsum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595959"/>
                </a:solidFill>
                <a:latin typeface="Inter"/>
              </a:rPr>
              <a:t>―  </a:t>
            </a:r>
            <a:r>
              <a:rPr sz="1500" b="1">
                <a:solidFill>
                  <a:srgbClr val="161616"/>
                </a:solidFill>
                <a:latin typeface="Inter"/>
              </a:rPr>
              <a:t>maxIntersections — arithmetic oracle, no rollup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595959"/>
                </a:solidFill>
                <a:latin typeface="Inter"/>
              </a:rPr>
              <a:t>―  </a:t>
            </a:r>
            <a:r>
              <a:rPr sz="1500" b="1">
                <a:solidFill>
                  <a:srgbClr val="161616"/>
                </a:solidFill>
                <a:latin typeface="Inter"/>
              </a:rPr>
              <a:t>A Python reference — owes ClickHouse nothing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595959"/>
                </a:solidFill>
                <a:latin typeface="Inter"/>
              </a:rPr>
              <a:t>―  </a:t>
            </a:r>
            <a:r>
              <a:rPr sz="1500" b="1">
                <a:solidFill>
                  <a:srgbClr val="161616"/>
                </a:solidFill>
                <a:latin typeface="Inter"/>
              </a:rPr>
              <a:t>chDB — same SQL files, in-process, no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783080"/>
            <a:ext cx="5166360" cy="4114800"/>
          </a:xfrm>
          <a:prstGeom prst="rect">
            <a:avLst/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011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00">
                <a:solidFill>
                  <a:srgbClr val="595959"/>
                </a:solidFill>
                <a:latin typeface="Inter"/>
              </a:rPr>
              <a:t>FOUR GATES DIFF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423160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595959"/>
                </a:solidFill>
                <a:latin typeface="Inter"/>
              </a:rPr>
              <a:t>―  </a:t>
            </a:r>
            <a:r>
              <a:rPr sz="1300" b="0">
                <a:solidFill>
                  <a:srgbClr val="161616"/>
                </a:solidFill>
                <a:latin typeface="Inter"/>
              </a:rPr>
              <a:t>Gate A — 12 cross-path checks.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>
                <a:solidFill>
                  <a:srgbClr val="595959"/>
                </a:solidFill>
                <a:latin typeface="Inter"/>
              </a:rPr>
              <a:t>     unfiltered, across every slice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595959"/>
                </a:solidFill>
                <a:latin typeface="Inter"/>
              </a:rPr>
              <a:t>―  </a:t>
            </a:r>
            <a:r>
              <a:rPr sz="1300" b="1">
                <a:solidFill>
                  <a:srgbClr val="161616"/>
                </a:solidFill>
                <a:latin typeface="Inter"/>
              </a:rPr>
              <a:t>Gate B — byte-identical rebuild.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595959"/>
                </a:solidFill>
                <a:latin typeface="Inter"/>
              </a:rPr>
              <a:t>―  </a:t>
            </a:r>
            <a:r>
              <a:rPr sz="1300" b="0">
                <a:solidFill>
                  <a:srgbClr val="161616"/>
                </a:solidFill>
                <a:latin typeface="Inter"/>
              </a:rPr>
              <a:t>Gate C — held-out day rehearsal.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>
                <a:solidFill>
                  <a:srgbClr val="595959"/>
                </a:solidFill>
                <a:latin typeface="Inter"/>
              </a:rPr>
              <a:t>     caught a real async-mutation race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595959"/>
                </a:solidFill>
                <a:latin typeface="Inter"/>
              </a:rPr>
              <a:t>―  </a:t>
            </a:r>
            <a:r>
              <a:rPr sz="1300" b="0">
                <a:solidFill>
                  <a:srgbClr val="161616"/>
                </a:solidFill>
                <a:latin typeface="Inter"/>
              </a:rPr>
              <a:t>Gate D — chDB, three runtimes.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>
                <a:solidFill>
                  <a:srgbClr val="595959"/>
                </a:solidFill>
                <a:latin typeface="Inter"/>
              </a:rPr>
              <a:t>     same hash, three ClickHouse versions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9893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400" b="1">
                <a:solidFill>
                  <a:srgbClr val="161616"/>
                </a:solidFill>
                <a:latin typeface="Inter"/>
              </a:rPr>
              <a:t>12 / 12 — EXACTLY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441" y="416966"/>
            <a:ext cx="40233" cy="15361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764" y="365760"/>
            <a:ext cx="40233" cy="25603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438912"/>
            <a:ext cx="40233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411" y="391363"/>
            <a:ext cx="40233" cy="20482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10">
                <a:solidFill>
                  <a:srgbClr val="595959"/>
                </a:solidFill>
                <a:latin typeface="Inter"/>
              </a:rPr>
              <a:t>MEASURED, SERVER-SIDE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 spc="-20">
                <a:solidFill>
                  <a:srgbClr val="161616"/>
                </a:solidFill>
                <a:latin typeface="Inter"/>
              </a:rPr>
              <a:t>Performance &amp;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Inter"/>
              </a:rPr>
              <a:t>ClickLiv  ·  DevSapiens  ·  ClickHouse Click-a-thon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836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Inter"/>
              </a:rPr>
              <a:t>9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737360"/>
          <a:ext cx="112014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6355080"/>
              </a:tblGrid>
              <a:tr h="557784">
                <a:tc>
                  <a:txBody>
                    <a:bodyPr/>
                    <a:lstStyle/>
                    <a:p>
                      <a:r>
                        <a:rPr b="1" sz="1200" spc="60">
                          <a:solidFill>
                            <a:srgbClr val="595959"/>
                          </a:solidFill>
                          <a:latin typeface="Inter"/>
                        </a:rPr>
                        <a:t>MEASURE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spc="60">
                          <a:solidFill>
                            <a:srgbClr val="595959"/>
                          </a:solidFill>
                          <a:latin typeface="Inter"/>
                        </a:rPr>
                        <a:t>RESULT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1616"/>
                          </a:solidFill>
                          <a:latin typeface="Inter"/>
                        </a:rPr>
                        <a:t>Read cost, 0 → 8 dimension filters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616"/>
                          </a:solidFill>
                          <a:latin typeface="Inter"/>
                        </a:rPr>
                        <a:t>97,043 → 99,968 rows  —  +2,925, not 8x more scans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1616"/>
                          </a:solidFill>
                          <a:latin typeface="Inter"/>
                        </a:rPr>
                        <a:t>Naive baseline (no rollup)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616"/>
                          </a:solidFill>
                          <a:latin typeface="Inter"/>
                        </a:rPr>
                        <a:t>905,558 rows for the same answer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1616"/>
                          </a:solidFill>
                          <a:latin typeface="Inter"/>
                        </a:rPr>
                        <a:t>Projection pruning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616"/>
                          </a:solidFill>
                          <a:latin typeface="Inter"/>
                        </a:rPr>
                        <a:t>136/180 → 26/136 granules; planner-chosen, not forced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1616"/>
                          </a:solidFill>
                          <a:latin typeface="Inter"/>
                        </a:rPr>
                        <a:t>Sharding at 100x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616"/>
                          </a:solidFill>
                          <a:latin typeface="Inter"/>
                        </a:rPr>
                        <a:t>8 independent shards by session hash — exact, zero coordination</a:t>
                      </a:r>
                    </a:p>
                  </a:txBody>
                  <a:tcPr anchor="ctr" marL="101600" marT="50800" marB="5080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49377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Inter"/>
              </a:rPr>
              <a:t>Every figure is query_duration_ms from system.query_log by query_id — never a client stopwatch.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441" y="416966"/>
            <a:ext cx="40233" cy="15361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764" y="365760"/>
            <a:ext cx="40233" cy="25603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438912"/>
            <a:ext cx="40233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411" y="391363"/>
            <a:ext cx="40233" cy="20482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10">
                <a:solidFill>
                  <a:srgbClr val="595959"/>
                </a:solidFill>
                <a:latin typeface="Inter"/>
              </a:rPr>
              <a:t>NOT A CHECKBOX INTEGRATION — FIVE CLICKHOUSE PRODUCTS, FOUR OSS PILLARS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 spc="-20">
                <a:solidFill>
                  <a:srgbClr val="161616"/>
                </a:solidFill>
                <a:latin typeface="Inter"/>
              </a:rPr>
              <a:t>The full stack, ClickHouse underneath every piece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Inter"/>
              </a:rPr>
              <a:t>ClickLiv  ·  DevSapiens  ·  ClickHouse Click-a-thon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836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Inter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91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00">
                <a:solidFill>
                  <a:srgbClr val="595959"/>
                </a:solidFill>
                <a:latin typeface="Inter"/>
              </a:rPr>
              <a:t>CLICKHOUSE ITSELF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00">
                <a:solidFill>
                  <a:srgbClr val="595959"/>
                </a:solidFill>
                <a:latin typeface="Inter"/>
              </a:rPr>
              <a:t>EVERYTHING AROUND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057400"/>
            <a:ext cx="53949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ClickHouse Cloud — every stage, ingestion to serving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Parameterized views + SQL SECURITY DEFINER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SummingMergeTree, ReplacingMergeTree + MVs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Dictionaries — content joined without a join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Projections — planner-chosen, measured pruning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chDB — same SQL, in-process, hash-identical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ClickHouse managed Postgres — Langfuse's state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readonly=1 CONST — the budget the DB enforces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57400"/>
            <a:ext cx="53949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ClickStack, built on HyperDX — pipeline traces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Langfuse — LLM &amp; MCP traces, stored in ClickHouse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LibreChat + Gemini 3 Flash — plain-English Q&amp;A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MCP — 5 custom tools + the official ClickHouse server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Vercel — the dashboard, serverless, no admin creds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1 EC2 instance + Caddy — HTTPS via sslip.io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Python, stdlib only — zero runtime dependencies</a:t>
            </a:r>
          </a:p>
          <a:p>
            <a:pPr>
              <a:lnSpc>
                <a:spcPct val="110000"/>
              </a:lnSpc>
              <a:spcAft>
                <a:spcPts val="950"/>
              </a:spcAft>
            </a:pPr>
            <a:r>
              <a:rPr sz="1250" b="1">
                <a:solidFill>
                  <a:srgbClr val="595959"/>
                </a:solidFill>
                <a:latin typeface="Inter"/>
              </a:rPr>
              <a:t>―  </a:t>
            </a:r>
            <a:r>
              <a:rPr sz="1250" b="1">
                <a:solidFill>
                  <a:srgbClr val="161616"/>
                </a:solidFill>
                <a:latin typeface="Inter"/>
              </a:rPr>
              <a:t>OpenAI / Bedrock gpt-oss-120b — optional decline LLM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441" y="416966"/>
            <a:ext cx="40233" cy="15361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764" y="365760"/>
            <a:ext cx="40233" cy="25603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438912"/>
            <a:ext cx="40233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411" y="391363"/>
            <a:ext cx="40233" cy="20482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10">
                <a:solidFill>
                  <a:srgbClr val="595959"/>
                </a:solidFill>
                <a:latin typeface="Inter"/>
              </a:rPr>
              <a:t>WHAT JUDGES CAN CLICK RIGHT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 spc="-20">
                <a:solidFill>
                  <a:srgbClr val="161616"/>
                </a:solidFill>
                <a:latin typeface="Inter"/>
              </a:rPr>
              <a:t>Live deployments and dashboards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Inter"/>
              </a:rPr>
              <a:t>ClickLiv  ·  DevSapiens  ·  ClickHouse Click-a-thon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836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Inter"/>
              </a:rPr>
              <a:t>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783080"/>
            <a:ext cx="54406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783080"/>
            <a:ext cx="5440680" cy="54864"/>
          </a:xfrm>
          <a:prstGeom prst="rect">
            <a:avLst/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0253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1616"/>
                </a:solidFill>
                <a:latin typeface="Inter"/>
              </a:rPr>
              <a:t>clickliv.vercel.app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560320"/>
            <a:ext cx="5029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Inter"/>
              </a:rPr>
              <a:t>The concurrency dashboard — foreground-only vs naive, every dimension filterable live.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54406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783080"/>
            <a:ext cx="5440680" cy="54864"/>
          </a:xfrm>
          <a:prstGeom prst="rect">
            <a:avLst/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00253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1616"/>
                </a:solidFill>
                <a:latin typeface="Inter"/>
              </a:rPr>
              <a:t>librechat.15-252-63-157.sslip.io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560320"/>
            <a:ext cx="5029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Inter"/>
              </a:rPr>
              <a:t>Ask for any published number in plain English — guardrailed tools, never raw SQL.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86200"/>
            <a:ext cx="54406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886200"/>
            <a:ext cx="5440680" cy="54864"/>
          </a:xfrm>
          <a:prstGeom prst="rect">
            <a:avLst/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0565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1616"/>
                </a:solidFill>
                <a:latin typeface="Inter"/>
              </a:rPr>
              <a:t>langfuse.15-252-63-157.sslip.io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63440"/>
            <a:ext cx="5029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Inter"/>
              </a:rPr>
              <a:t>LLM &amp; MCP trace dashboard — traces, cost, tool calls, all live tiles.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886200"/>
            <a:ext cx="54406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886200"/>
            <a:ext cx="5440680" cy="54864"/>
          </a:xfrm>
          <a:prstGeom prst="rect">
            <a:avLst/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10565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1616"/>
                </a:solidFill>
                <a:latin typeface="Inter"/>
              </a:rPr>
              <a:t>clickstack.15-252-63-157.sslip.io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663440"/>
            <a:ext cx="5029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Inter"/>
              </a:rPr>
              <a:t>Pipeline trace dashboard, built on HyperDX — a span per stage and per query.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441" y="416966"/>
            <a:ext cx="40233" cy="15361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764" y="365760"/>
            <a:ext cx="40233" cy="25603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438912"/>
            <a:ext cx="40233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411" y="391363"/>
            <a:ext cx="40233" cy="20482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10">
                <a:solidFill>
                  <a:srgbClr val="595959"/>
                </a:solidFill>
                <a:latin typeface="Inter"/>
              </a:rPr>
              <a:t>INCREMENTAL, REHEARSED, AND IT HELD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 spc="-20">
                <a:solidFill>
                  <a:srgbClr val="161616"/>
                </a:solidFill>
                <a:latin typeface="Inter"/>
              </a:rPr>
              <a:t>Update handling &amp; the unseen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Inter"/>
              </a:rPr>
              <a:t>ClickLiv  ·  DevSapiens  ·  ClickHouse Click-a-thon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836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Inter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874519"/>
            <a:ext cx="111556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50" b="1">
                <a:solidFill>
                  <a:srgbClr val="595959"/>
                </a:solidFill>
                <a:latin typeface="Inter"/>
              </a:rPr>
              <a:t>―  </a:t>
            </a:r>
            <a:r>
              <a:rPr sz="1550" b="0">
                <a:solidFill>
                  <a:srgbClr val="161616"/>
                </a:solidFill>
                <a:latin typeface="Inter"/>
              </a:rPr>
              <a:t>34.7% of sessions are still open at the file boundary — real, not a fixture.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350">
                <a:solidFill>
                  <a:srgbClr val="595959"/>
                </a:solidFill>
                <a:latin typeface="Inter"/>
              </a:rPr>
              <a:t>     A ReplacingMergeTree + materialized view extends them live on every insert, with no rebuild.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50" b="1">
                <a:solidFill>
                  <a:srgbClr val="595959"/>
                </a:solidFill>
                <a:latin typeface="Inter"/>
              </a:rPr>
              <a:t>―  </a:t>
            </a:r>
            <a:r>
              <a:rPr sz="1550" b="0">
                <a:solidFill>
                  <a:srgbClr val="161616"/>
                </a:solidFill>
                <a:latin typeface="Inter"/>
              </a:rPr>
              <a:t>Proved the hard way: insert one heartbeat into an open session, read live state, then rebuild from scratch.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350">
                <a:solidFill>
                  <a:srgbClr val="595959"/>
                </a:solidFill>
                <a:latin typeface="Inter"/>
              </a:rPr>
              <a:t>     They agree to the millisecond.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50" b="1">
                <a:solidFill>
                  <a:srgbClr val="595959"/>
                </a:solidFill>
                <a:latin typeface="Inter"/>
              </a:rPr>
              <a:t>―  </a:t>
            </a:r>
            <a:r>
              <a:rPr sz="1550" b="0">
                <a:solidFill>
                  <a:srgbClr val="161616"/>
                </a:solidFill>
                <a:latin typeface="Inter"/>
              </a:rPr>
              <a:t>make preflight → make unseen → make rollback, 7.8 seconds to recover.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350">
                <a:solidFill>
                  <a:srgbClr val="595959"/>
                </a:solidFill>
                <a:latin typeface="Inter"/>
              </a:rPr>
              <a:t>     It held on the graded drop: two unseen columns, video_resolution and show_name, needed zero code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441" y="416966"/>
            <a:ext cx="40233" cy="153619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764" y="365760"/>
            <a:ext cx="40233" cy="25603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438912"/>
            <a:ext cx="40233" cy="109728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411" y="391363"/>
            <a:ext cx="40233" cy="20482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10">
                <a:solidFill>
                  <a:srgbClr val="595959"/>
                </a:solidFill>
                <a:latin typeface="Inter"/>
              </a:rPr>
              <a:t>WHAT THIS PROVES, AND WHAT WE DON'T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229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 spc="-20">
                <a:solidFill>
                  <a:srgbClr val="161616"/>
                </a:solidFill>
                <a:latin typeface="Inter"/>
              </a:rPr>
              <a:t>Conclusions &amp; honest limits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6528816"/>
            <a:ext cx="11185855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Inter"/>
              </a:rPr>
              <a:t>ClickLiv  ·  DevSapiens  ·  ClickHouse Click-a-thon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836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Inter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00">
                <a:solidFill>
                  <a:srgbClr val="595959"/>
                </a:solidFill>
                <a:latin typeface="Inter"/>
              </a:rPr>
              <a:t>CONFIDENT ABOUT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0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450" b="1">
                <a:solidFill>
                  <a:srgbClr val="595959"/>
                </a:solidFill>
                <a:latin typeface="Inter"/>
              </a:rPr>
              <a:t>―  </a:t>
            </a:r>
            <a:r>
              <a:rPr sz="1450" b="1">
                <a:solidFill>
                  <a:srgbClr val="161616"/>
                </a:solidFill>
                <a:latin typeface="Inter"/>
              </a:rPr>
              <a:t>Correctness is diffed, not asserted — 12/12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450" b="1">
                <a:solidFill>
                  <a:srgbClr val="595959"/>
                </a:solidFill>
                <a:latin typeface="Inter"/>
              </a:rPr>
              <a:t>―  </a:t>
            </a:r>
            <a:r>
              <a:rPr sz="1450" b="1">
                <a:solidFill>
                  <a:srgbClr val="161616"/>
                </a:solidFill>
                <a:latin typeface="Inter"/>
              </a:rPr>
              <a:t>Read pattern is right; instance size is the bottleneck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450" b="1">
                <a:solidFill>
                  <a:srgbClr val="595959"/>
                </a:solidFill>
                <a:latin typeface="Inter"/>
              </a:rPr>
              <a:t>―  </a:t>
            </a:r>
            <a:r>
              <a:rPr sz="1450" b="1">
                <a:solidFill>
                  <a:srgbClr val="161616"/>
                </a:solidFill>
                <a:latin typeface="Inter"/>
              </a:rPr>
              <a:t>Generalizes to columns it never saw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00">
                <a:solidFill>
                  <a:srgbClr val="595959"/>
                </a:solidFill>
                <a:latin typeface="Inter"/>
              </a:rPr>
              <a:t>NOT CLAIMING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94560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450" b="1">
                <a:solidFill>
                  <a:srgbClr val="595959"/>
                </a:solidFill>
                <a:latin typeface="Inter"/>
              </a:rPr>
              <a:t>―  </a:t>
            </a:r>
            <a:r>
              <a:rPr sz="1450" b="1">
                <a:solidFill>
                  <a:srgbClr val="161616"/>
                </a:solidFill>
                <a:latin typeface="Inter"/>
              </a:rPr>
              <a:t>We miss our own 124 ms p99 target — stated plainly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450" b="1">
                <a:solidFill>
                  <a:srgbClr val="595959"/>
                </a:solidFill>
                <a:latin typeface="Inter"/>
              </a:rPr>
              <a:t>―  </a:t>
            </a:r>
            <a:r>
              <a:rPr sz="1450" b="1">
                <a:solidFill>
                  <a:srgbClr val="161616"/>
                </a:solidFill>
                <a:latin typeface="Inter"/>
              </a:rPr>
              <a:t>Occupancy and instantaneous are both computed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450" b="1">
                <a:solidFill>
                  <a:srgbClr val="595959"/>
                </a:solidFill>
                <a:latin typeface="Inter"/>
              </a:rPr>
              <a:t>―  </a:t>
            </a:r>
            <a:r>
              <a:rPr sz="1450" b="1">
                <a:solidFill>
                  <a:srgbClr val="161616"/>
                </a:solidFill>
                <a:latin typeface="Inter"/>
              </a:rPr>
              <a:t>Ambiguous titles refuse rather than guess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257800"/>
            <a:ext cx="11201400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Inter"/>
              </a:rPr>
              <a:t>Impact: right-sized ad inventory, capacity provisioned against a real peak, a concurrency cliff visible within a minute.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" y="909828"/>
            <a:ext cx="50292" cy="192024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5265" y="845820"/>
            <a:ext cx="50292" cy="32004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4420" y="937259"/>
            <a:ext cx="50292" cy="1371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3574" y="877824"/>
            <a:ext cx="50292" cy="256032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" y="0"/>
            <a:ext cx="11" cy="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 spc="-20">
                <a:solidFill>
                  <a:srgbClr val="161616"/>
                </a:solidFill>
                <a:latin typeface="Inter"/>
              </a:rPr>
              <a:t>7,000,000 events to an auditable
concurrency curve. One command.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  <a:latin typeface="Inter"/>
              </a:rPr>
              <a:t>Live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404872"/>
            <a:ext cx="54864" cy="292608"/>
          </a:xfrm>
          <a:prstGeom prst="rect">
            <a:avLst/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4231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1616"/>
                </a:solidFill>
                <a:latin typeface="Inter"/>
              </a:rPr>
              <a:t>clickliv.vercel.app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  <a:latin typeface="Inter"/>
              </a:rPr>
              <a:t>Chat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953512"/>
            <a:ext cx="54864" cy="292608"/>
          </a:xfrm>
          <a:prstGeom prst="rect">
            <a:avLst/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9718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1616"/>
                </a:solidFill>
                <a:latin typeface="Inter"/>
              </a:rPr>
              <a:t>librechat.15-252-63-157.sslip.io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20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  <a:latin typeface="Inter"/>
              </a:rPr>
              <a:t>LLM / MCP traces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502152"/>
            <a:ext cx="54864" cy="292608"/>
          </a:xfrm>
          <a:prstGeom prst="rect">
            <a:avLst/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5204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1616"/>
                </a:solidFill>
                <a:latin typeface="Inter"/>
              </a:rPr>
              <a:t>langfuse.15-252-63-157.sslip.io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  <a:latin typeface="Inter"/>
              </a:rPr>
              <a:t>Pipeline traces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4050792"/>
            <a:ext cx="54864" cy="292608"/>
          </a:xfrm>
          <a:prstGeom prst="rect">
            <a:avLst/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4069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1616"/>
                </a:solidFill>
                <a:latin typeface="Inter"/>
              </a:rPr>
              <a:t>clickstack.15-252-63-157.sslip.io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  <a:latin typeface="Inter"/>
              </a:rPr>
              <a:t>Repository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4599432"/>
            <a:ext cx="54864" cy="292608"/>
          </a:xfrm>
          <a:prstGeom prst="rect">
            <a:avLst/>
          </a:prstGeom>
          <a:solidFill>
            <a:srgbClr val="FAF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46177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1616"/>
                </a:solidFill>
                <a:latin typeface="Inter"/>
              </a:rPr>
              <a:t>github.com/ashutosh887/ClickLiv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715000"/>
            <a:ext cx="10424160" cy="1270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8978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Inter"/>
              </a:rPr>
              <a:t>Team DevSapiens  ·  Ashutosh Jha  ·  Mansi Sondhi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